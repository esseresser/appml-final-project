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5" r:id="rId12"/>
    <p:sldId id="266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0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01441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67DC9-4D0C-27E2-05D1-7CE1EEAF2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58DCE5-EE79-2F38-8B0C-4590695F67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2875F-BEA8-0EB7-845F-205AB72532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59DAB-58DB-C0CB-67C5-4EB6D5244C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5594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6995160" y="25603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Shape 2"/>
          <p:cNvSpPr/>
          <p:nvPr/>
        </p:nvSpPr>
        <p:spPr>
          <a:xfrm>
            <a:off x="7406640" y="25603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5" name="Shape 3"/>
          <p:cNvSpPr/>
          <p:nvPr/>
        </p:nvSpPr>
        <p:spPr>
          <a:xfrm>
            <a:off x="7818120" y="25603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8229600" y="25603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Shape 5"/>
          <p:cNvSpPr/>
          <p:nvPr/>
        </p:nvSpPr>
        <p:spPr>
          <a:xfrm>
            <a:off x="8641080" y="25603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Shape 6"/>
          <p:cNvSpPr/>
          <p:nvPr/>
        </p:nvSpPr>
        <p:spPr>
          <a:xfrm>
            <a:off x="6995160" y="66751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7406640" y="66751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7818120" y="66751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9"/>
          <p:cNvSpPr/>
          <p:nvPr/>
        </p:nvSpPr>
        <p:spPr>
          <a:xfrm>
            <a:off x="8229600" y="66751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10"/>
          <p:cNvSpPr/>
          <p:nvPr/>
        </p:nvSpPr>
        <p:spPr>
          <a:xfrm>
            <a:off x="8641080" y="66751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1"/>
          <p:cNvSpPr/>
          <p:nvPr/>
        </p:nvSpPr>
        <p:spPr>
          <a:xfrm>
            <a:off x="6995160" y="107899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Shape 12"/>
          <p:cNvSpPr/>
          <p:nvPr/>
        </p:nvSpPr>
        <p:spPr>
          <a:xfrm>
            <a:off x="7406640" y="107899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Shape 13"/>
          <p:cNvSpPr/>
          <p:nvPr/>
        </p:nvSpPr>
        <p:spPr>
          <a:xfrm>
            <a:off x="7818120" y="107899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>
            <a:off x="8229600" y="107899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5"/>
          <p:cNvSpPr/>
          <p:nvPr/>
        </p:nvSpPr>
        <p:spPr>
          <a:xfrm>
            <a:off x="8641080" y="107899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6"/>
          <p:cNvSpPr/>
          <p:nvPr/>
        </p:nvSpPr>
        <p:spPr>
          <a:xfrm>
            <a:off x="6995160" y="149047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Shape 17"/>
          <p:cNvSpPr/>
          <p:nvPr/>
        </p:nvSpPr>
        <p:spPr>
          <a:xfrm>
            <a:off x="7406640" y="149047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Shape 18"/>
          <p:cNvSpPr/>
          <p:nvPr/>
        </p:nvSpPr>
        <p:spPr>
          <a:xfrm>
            <a:off x="7818120" y="149047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Shape 19"/>
          <p:cNvSpPr/>
          <p:nvPr/>
        </p:nvSpPr>
        <p:spPr>
          <a:xfrm>
            <a:off x="8229600" y="149047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Shape 20"/>
          <p:cNvSpPr/>
          <p:nvPr/>
        </p:nvSpPr>
        <p:spPr>
          <a:xfrm>
            <a:off x="8641080" y="149047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Shape 21"/>
          <p:cNvSpPr/>
          <p:nvPr/>
        </p:nvSpPr>
        <p:spPr>
          <a:xfrm>
            <a:off x="6995160" y="190195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Shape 22"/>
          <p:cNvSpPr/>
          <p:nvPr/>
        </p:nvSpPr>
        <p:spPr>
          <a:xfrm>
            <a:off x="7406640" y="190195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5" name="Shape 23"/>
          <p:cNvSpPr/>
          <p:nvPr/>
        </p:nvSpPr>
        <p:spPr>
          <a:xfrm>
            <a:off x="7818120" y="190195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Shape 24"/>
          <p:cNvSpPr/>
          <p:nvPr/>
        </p:nvSpPr>
        <p:spPr>
          <a:xfrm>
            <a:off x="8229600" y="190195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Shape 25"/>
          <p:cNvSpPr/>
          <p:nvPr/>
        </p:nvSpPr>
        <p:spPr>
          <a:xfrm>
            <a:off x="8641080" y="1901952"/>
            <a:ext cx="82296" cy="82296"/>
          </a:xfrm>
          <a:prstGeom prst="ellipse">
            <a:avLst/>
          </a:prstGeom>
          <a:solidFill>
            <a:srgbClr val="1C3A54"/>
          </a:solidFill>
          <a:ln w="12700">
            <a:solidFill>
              <a:srgbClr val="1C3A5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8" name="Shape 26"/>
          <p:cNvSpPr/>
          <p:nvPr/>
        </p:nvSpPr>
        <p:spPr>
          <a:xfrm>
            <a:off x="7498080" y="109728"/>
            <a:ext cx="1508760" cy="150876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9" name="Shape 27"/>
          <p:cNvSpPr/>
          <p:nvPr/>
        </p:nvSpPr>
        <p:spPr>
          <a:xfrm>
            <a:off x="594360" y="1115568"/>
            <a:ext cx="265176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0" name="Text 28"/>
          <p:cNvSpPr/>
          <p:nvPr/>
        </p:nvSpPr>
        <p:spPr>
          <a:xfrm>
            <a:off x="594360" y="111556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94360" y="1600200"/>
            <a:ext cx="68580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5400" dirty="0"/>
          </a:p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</a:t>
            </a:r>
            <a:endParaRPr lang="en-US" sz="5400" dirty="0"/>
          </a:p>
        </p:txBody>
      </p:sp>
      <p:sp>
        <p:nvSpPr>
          <p:cNvPr id="32" name="Shape 30"/>
          <p:cNvSpPr/>
          <p:nvPr/>
        </p:nvSpPr>
        <p:spPr>
          <a:xfrm>
            <a:off x="594360" y="3794760"/>
            <a:ext cx="47548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Text 31"/>
          <p:cNvSpPr/>
          <p:nvPr/>
        </p:nvSpPr>
        <p:spPr>
          <a:xfrm>
            <a:off x="594360" y="395020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CNNs, Transformers &amp; Clustering to determine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 counts on small-scale orthophotos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Data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56404" y="1261872"/>
            <a:ext cx="334231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Orthophotos?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6404" y="1607444"/>
            <a:ext cx="3936076" cy="7242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photographs corrected for perspective distortion</a:t>
            </a:r>
          </a:p>
          <a:p>
            <a:pPr marL="0" indent="0" algn="l">
              <a:buNone/>
            </a:pPr>
            <a:endParaRPr lang="en-US" sz="13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onto maps with geospatial logging</a:t>
            </a:r>
          </a:p>
        </p:txBody>
      </p:sp>
      <p:sp>
        <p:nvSpPr>
          <p:cNvPr id="7" name="Text 5"/>
          <p:cNvSpPr/>
          <p:nvPr/>
        </p:nvSpPr>
        <p:spPr>
          <a:xfrm>
            <a:off x="205740" y="275733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Squarenet (Kvadratnet) from DST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6404" y="3108960"/>
            <a:ext cx="4572000" cy="1071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spatial grid by Statistics Denmark (DST). </a:t>
            </a:r>
          </a:p>
          <a:p>
            <a:pPr marL="0" indent="0" algn="l">
              <a:buNone/>
            </a:pPr>
            <a:endParaRPr lang="en-US" sz="13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official population counts</a:t>
            </a:r>
          </a:p>
          <a:p>
            <a:pPr marL="0" indent="0" algn="l">
              <a:buNone/>
            </a:pPr>
            <a:endParaRPr lang="en-US" sz="1300" dirty="0">
              <a:solidFill>
                <a:srgbClr val="47556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in different resolutions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281635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Orthophoto / Squarenet Example ]</a:t>
            </a:r>
            <a:endParaRPr lang="en-US" sz="1200" dirty="0"/>
          </a:p>
        </p:txBody>
      </p:sp>
      <p:pic>
        <p:nvPicPr>
          <p:cNvPr id="20" name="Picture 19" descr="The image shows a detailed map with a coastline, numerous cities, and a lake, all within a rural, suburban, and urban layout.&#10;&#10;AI-generated content may be incorrect.">
            <a:extLst>
              <a:ext uri="{FF2B5EF4-FFF2-40B4-BE49-F238E27FC236}">
                <a16:creationId xmlns:a16="http://schemas.microsoft.com/office/drawing/2014/main" id="{7F4198E2-DDC9-1B8A-A779-1F8E667353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491" y="1374688"/>
            <a:ext cx="5102070" cy="30693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3">
            <a:extLst>
              <a:ext uri="{FF2B5EF4-FFF2-40B4-BE49-F238E27FC236}">
                <a16:creationId xmlns:a16="http://schemas.microsoft.com/office/drawing/2014/main" id="{A0ACE84D-50A0-2B5A-C83F-83D97CFB3EB5}"/>
              </a:ext>
            </a:extLst>
          </p:cNvPr>
          <p:cNvSpPr/>
          <p:nvPr/>
        </p:nvSpPr>
        <p:spPr>
          <a:xfrm>
            <a:off x="2764536" y="1097280"/>
            <a:ext cx="1756954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Data Looks Like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46691" y="1097280"/>
            <a:ext cx="1756954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846691" y="1097280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1047859" y="1216152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47859" y="1536192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0.5 m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764536" y="1097280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3016867" y="1229868"/>
            <a:ext cx="1115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65704" y="1536192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[200×200] </a:t>
            </a:r>
            <a:r>
              <a:rPr lang="en-US" sz="18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px</a:t>
            </a:r>
            <a:endParaRPr lang="en-US" sz="1800" dirty="0"/>
          </a:p>
        </p:txBody>
      </p:sp>
      <p:sp>
        <p:nvSpPr>
          <p:cNvPr id="32" name="Shape 3">
            <a:extLst>
              <a:ext uri="{FF2B5EF4-FFF2-40B4-BE49-F238E27FC236}">
                <a16:creationId xmlns:a16="http://schemas.microsoft.com/office/drawing/2014/main" id="{3A88F0C6-2CA5-8C60-CF8A-682F2D8B97EA}"/>
              </a:ext>
            </a:extLst>
          </p:cNvPr>
          <p:cNvSpPr/>
          <p:nvPr/>
        </p:nvSpPr>
        <p:spPr>
          <a:xfrm>
            <a:off x="4688295" y="1094232"/>
            <a:ext cx="1756954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AF197C34-9137-D386-AE43-D5133DB2BCA3}"/>
              </a:ext>
            </a:extLst>
          </p:cNvPr>
          <p:cNvSpPr/>
          <p:nvPr/>
        </p:nvSpPr>
        <p:spPr>
          <a:xfrm>
            <a:off x="4688295" y="1094232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4" name="Text 9">
            <a:extLst>
              <a:ext uri="{FF2B5EF4-FFF2-40B4-BE49-F238E27FC236}">
                <a16:creationId xmlns:a16="http://schemas.microsoft.com/office/drawing/2014/main" id="{D0C583D6-5E41-E56E-7B27-CD841ACB0F1F}"/>
              </a:ext>
            </a:extLst>
          </p:cNvPr>
          <p:cNvSpPr/>
          <p:nvPr/>
        </p:nvSpPr>
        <p:spPr>
          <a:xfrm>
            <a:off x="4940626" y="1226820"/>
            <a:ext cx="1115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REGION</a:t>
            </a:r>
            <a:endParaRPr lang="en-US" sz="90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885A532C-D6A1-0E81-A481-9D3E1733E615}"/>
              </a:ext>
            </a:extLst>
          </p:cNvPr>
          <p:cNvSpPr/>
          <p:nvPr/>
        </p:nvSpPr>
        <p:spPr>
          <a:xfrm>
            <a:off x="4889463" y="1533144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[30×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] km</a:t>
            </a:r>
            <a:endParaRPr lang="en-US" sz="1800" dirty="0"/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97FCCF1D-2820-5856-7D02-D9C59EDFF4AF}"/>
              </a:ext>
            </a:extLst>
          </p:cNvPr>
          <p:cNvSpPr/>
          <p:nvPr/>
        </p:nvSpPr>
        <p:spPr>
          <a:xfrm>
            <a:off x="6597649" y="1091184"/>
            <a:ext cx="1756954" cy="109728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C69AC848-0927-D8B6-ABA0-A9B3FE7C3D34}"/>
              </a:ext>
            </a:extLst>
          </p:cNvPr>
          <p:cNvSpPr/>
          <p:nvPr/>
        </p:nvSpPr>
        <p:spPr>
          <a:xfrm>
            <a:off x="6597649" y="1091184"/>
            <a:ext cx="9144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8" name="Text 9">
            <a:extLst>
              <a:ext uri="{FF2B5EF4-FFF2-40B4-BE49-F238E27FC236}">
                <a16:creationId xmlns:a16="http://schemas.microsoft.com/office/drawing/2014/main" id="{26DF7D8F-D7EC-19E5-B222-6B4991D1A2F8}"/>
              </a:ext>
            </a:extLst>
          </p:cNvPr>
          <p:cNvSpPr/>
          <p:nvPr/>
        </p:nvSpPr>
        <p:spPr>
          <a:xfrm>
            <a:off x="6849980" y="1223772"/>
            <a:ext cx="11153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SIZE</a:t>
            </a:r>
            <a:endParaRPr lang="en-US" sz="900" dirty="0"/>
          </a:p>
        </p:txBody>
      </p:sp>
      <p:sp>
        <p:nvSpPr>
          <p:cNvPr id="39" name="Text 10">
            <a:extLst>
              <a:ext uri="{FF2B5EF4-FFF2-40B4-BE49-F238E27FC236}">
                <a16:creationId xmlns:a16="http://schemas.microsoft.com/office/drawing/2014/main" id="{9D56810D-96F7-FEFD-D507-8A5056DBE621}"/>
              </a:ext>
            </a:extLst>
          </p:cNvPr>
          <p:cNvSpPr/>
          <p:nvPr/>
        </p:nvSpPr>
        <p:spPr>
          <a:xfrm>
            <a:off x="6798816" y="1530096"/>
            <a:ext cx="14593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88 869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images</a:t>
            </a:r>
            <a:endParaRPr lang="en-US" sz="1800" dirty="0"/>
          </a:p>
        </p:txBody>
      </p:sp>
      <p:pic>
        <p:nvPicPr>
          <p:cNvPr id="41" name="Picture 40" descr="The image is a grayscale aerial view of a suburban neighborhood with a street running through it, showing houses and a small park on the side.&#10;&#10;AI-generated content may be incorrect.">
            <a:extLst>
              <a:ext uri="{FF2B5EF4-FFF2-40B4-BE49-F238E27FC236}">
                <a16:creationId xmlns:a16="http://schemas.microsoft.com/office/drawing/2014/main" id="{8674669E-409F-855B-A2F2-C7473DDB4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273" y="2755900"/>
            <a:ext cx="1905000" cy="1905000"/>
          </a:xfrm>
          <a:prstGeom prst="rect">
            <a:avLst/>
          </a:prstGeom>
        </p:spPr>
      </p:pic>
      <p:pic>
        <p:nvPicPr>
          <p:cNvPr id="43" name="Picture 42" descr="The image depicts a residential area with houses, a factory, and some greenery, captured from an aerial perspective.&#10;&#10;AI-generated content may be incorrect.">
            <a:extLst>
              <a:ext uri="{FF2B5EF4-FFF2-40B4-BE49-F238E27FC236}">
                <a16:creationId xmlns:a16="http://schemas.microsoft.com/office/drawing/2014/main" id="{0190AA05-B18C-CE2D-70C8-FBB866FB66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1772" y="2755900"/>
            <a:ext cx="1905000" cy="1905000"/>
          </a:xfrm>
          <a:prstGeom prst="rect">
            <a:avLst/>
          </a:prstGeom>
        </p:spPr>
      </p:pic>
      <p:pic>
        <p:nvPicPr>
          <p:cNvPr id="45" name="Picture 44" descr="The image is a high-resolution aerial view of a meticulously plotted field with a solitary, dark-colored building at the top right corner, surrounded by geometric, evenly spaced rows of crops.&#10;&#10;AI-generated content may be incorrect.">
            <a:extLst>
              <a:ext uri="{FF2B5EF4-FFF2-40B4-BE49-F238E27FC236}">
                <a16:creationId xmlns:a16="http://schemas.microsoft.com/office/drawing/2014/main" id="{F96A331D-1399-2EC1-166C-17C654830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271" y="2755900"/>
            <a:ext cx="1905000" cy="1905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The Naïve Approach</a:t>
            </a:r>
            <a:endParaRPr lang="en-US" sz="2800" dirty="0"/>
          </a:p>
        </p:txBody>
      </p:sp>
      <p:pic>
        <p:nvPicPr>
          <p:cNvPr id="28" name="Picture 27" descr="Ingen tilgængelig beskrivelse.">
            <a:extLst>
              <a:ext uri="{FF2B5EF4-FFF2-40B4-BE49-F238E27FC236}">
                <a16:creationId xmlns:a16="http://schemas.microsoft.com/office/drawing/2014/main" id="{47B703A4-8A4C-69BC-533F-CCA365AD2F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1" y="960120"/>
            <a:ext cx="4774306" cy="257872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24A1150-C81A-6AFC-164A-A59FA891F248}"/>
              </a:ext>
            </a:extLst>
          </p:cNvPr>
          <p:cNvSpPr txBox="1"/>
          <p:nvPr/>
        </p:nvSpPr>
        <p:spPr>
          <a:xfrm>
            <a:off x="594360" y="3853543"/>
            <a:ext cx="4322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Mangler R^2 plot her</a:t>
            </a:r>
            <a:endParaRPr lang="en-DK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Methods: Problems Identified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Did It Go Wrong?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5361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struggled most on populated cells, producing large prediction errors in those cases.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2316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Text 7"/>
          <p:cNvSpPr/>
          <p:nvPr/>
        </p:nvSpPr>
        <p:spPr>
          <a:xfrm>
            <a:off x="685800" y="242316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Zero-Inflated Distribution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77063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Squarenet cells have zero or near-zero population, creating a severe class imbalance.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57600"/>
            <a:ext cx="73152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Text 10"/>
          <p:cNvSpPr/>
          <p:nvPr/>
        </p:nvSpPr>
        <p:spPr>
          <a:xfrm>
            <a:off x="685800" y="3657600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Bias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400507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imbalanced data, the model defaulted to predicting near-zero values for all inputs.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349240" y="1097280"/>
            <a:ext cx="3474720" cy="1828800"/>
          </a:xfrm>
          <a:prstGeom prst="rect">
            <a:avLst/>
          </a:prstGeom>
          <a:solidFill>
            <a:srgbClr val="E6F4F9"/>
          </a:solidFill>
          <a:ln w="19050">
            <a:solidFill>
              <a:srgbClr val="6DC5DC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5" name="Shape 13"/>
          <p:cNvSpPr/>
          <p:nvPr/>
        </p:nvSpPr>
        <p:spPr>
          <a:xfrm>
            <a:off x="5349240" y="109728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>
            <a:off x="5349240" y="109728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5"/>
          <p:cNvSpPr/>
          <p:nvPr/>
        </p:nvSpPr>
        <p:spPr>
          <a:xfrm>
            <a:off x="8659368" y="109728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6"/>
          <p:cNvSpPr/>
          <p:nvPr/>
        </p:nvSpPr>
        <p:spPr>
          <a:xfrm>
            <a:off x="8787384" y="109728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Shape 17"/>
          <p:cNvSpPr/>
          <p:nvPr/>
        </p:nvSpPr>
        <p:spPr>
          <a:xfrm>
            <a:off x="5349240" y="288950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Shape 18"/>
          <p:cNvSpPr/>
          <p:nvPr/>
        </p:nvSpPr>
        <p:spPr>
          <a:xfrm>
            <a:off x="5349240" y="276148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Shape 19"/>
          <p:cNvSpPr/>
          <p:nvPr/>
        </p:nvSpPr>
        <p:spPr>
          <a:xfrm>
            <a:off x="8659368" y="288950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Shape 20"/>
          <p:cNvSpPr/>
          <p:nvPr/>
        </p:nvSpPr>
        <p:spPr>
          <a:xfrm>
            <a:off x="8787384" y="276148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Text 21"/>
          <p:cNvSpPr/>
          <p:nvPr/>
        </p:nvSpPr>
        <p:spPr>
          <a:xfrm>
            <a:off x="5440680" y="181051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Population Distribution Plot 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349240" y="3063240"/>
            <a:ext cx="3474720" cy="1874520"/>
          </a:xfrm>
          <a:prstGeom prst="rect">
            <a:avLst/>
          </a:prstGeom>
          <a:solidFill>
            <a:srgbClr val="E6F4F9"/>
          </a:solidFill>
          <a:ln w="19050">
            <a:solidFill>
              <a:srgbClr val="6DC5DC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25" name="Shape 23"/>
          <p:cNvSpPr/>
          <p:nvPr/>
        </p:nvSpPr>
        <p:spPr>
          <a:xfrm>
            <a:off x="5349240" y="306324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6" name="Shape 24"/>
          <p:cNvSpPr/>
          <p:nvPr/>
        </p:nvSpPr>
        <p:spPr>
          <a:xfrm>
            <a:off x="5349240" y="306324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7" name="Shape 25"/>
          <p:cNvSpPr/>
          <p:nvPr/>
        </p:nvSpPr>
        <p:spPr>
          <a:xfrm>
            <a:off x="8659368" y="306324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8" name="Shape 26"/>
          <p:cNvSpPr/>
          <p:nvPr/>
        </p:nvSpPr>
        <p:spPr>
          <a:xfrm>
            <a:off x="8787384" y="306324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9" name="Shape 27"/>
          <p:cNvSpPr/>
          <p:nvPr/>
        </p:nvSpPr>
        <p:spPr>
          <a:xfrm>
            <a:off x="5349240" y="490118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0" name="Shape 28"/>
          <p:cNvSpPr/>
          <p:nvPr/>
        </p:nvSpPr>
        <p:spPr>
          <a:xfrm>
            <a:off x="5349240" y="477316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1" name="Shape 29"/>
          <p:cNvSpPr/>
          <p:nvPr/>
        </p:nvSpPr>
        <p:spPr>
          <a:xfrm>
            <a:off x="8659368" y="490118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2" name="Shape 30"/>
          <p:cNvSpPr/>
          <p:nvPr/>
        </p:nvSpPr>
        <p:spPr>
          <a:xfrm>
            <a:off x="8787384" y="477316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3" name="Text 31"/>
          <p:cNvSpPr/>
          <p:nvPr/>
        </p:nvSpPr>
        <p:spPr>
          <a:xfrm>
            <a:off x="5440680" y="3799332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Predicted vs True Values ]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411480" cy="119347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713113" y="137308"/>
            <a:ext cx="233884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Cases: GradCAM Analysis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-1819797" y="1777054"/>
            <a:ext cx="6249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GradCAM highlights which image regions </a:t>
            </a:r>
          </a:p>
          <a:p>
            <a:pPr marL="0" indent="0" algn="ctr">
              <a:buNone/>
            </a:pPr>
            <a:r>
              <a:rPr lang="en-US" sz="11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the model's incorrect predictions.</a:t>
            </a:r>
            <a:endParaRPr lang="en-US" sz="1100" dirty="0"/>
          </a:p>
        </p:txBody>
      </p:sp>
      <p:pic>
        <p:nvPicPr>
          <p:cNvPr id="27" name="Picture 26" descr="Ingen tilgængelig beskrivelse.">
            <a:extLst>
              <a:ext uri="{FF2B5EF4-FFF2-40B4-BE49-F238E27FC236}">
                <a16:creationId xmlns:a16="http://schemas.microsoft.com/office/drawing/2014/main" id="{0247F06E-7625-D184-1B38-19461B77B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676" y="1"/>
            <a:ext cx="4832888" cy="2594220"/>
          </a:xfrm>
          <a:prstGeom prst="rect">
            <a:avLst/>
          </a:prstGeom>
        </p:spPr>
      </p:pic>
      <p:pic>
        <p:nvPicPr>
          <p:cNvPr id="28" name="Picture 27" descr="Ingen tilgængelig beskrivelse.">
            <a:extLst>
              <a:ext uri="{FF2B5EF4-FFF2-40B4-BE49-F238E27FC236}">
                <a16:creationId xmlns:a16="http://schemas.microsoft.com/office/drawing/2014/main" id="{2D707860-D051-459D-F16A-FA22F4E5D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1676" y="2588747"/>
            <a:ext cx="4832888" cy="25916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Methods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4069080" cy="1691640"/>
          </a:xfrm>
          <a:prstGeom prst="rect">
            <a:avLst/>
          </a:prstGeom>
          <a:solidFill>
            <a:srgbClr val="F0F8FC"/>
          </a:solidFill>
          <a:ln w="12700">
            <a:solidFill>
              <a:srgbClr val="C8E8F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9144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Text 5"/>
          <p:cNvSpPr/>
          <p:nvPr/>
        </p:nvSpPr>
        <p:spPr>
          <a:xfrm>
            <a:off x="685800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→ Regression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170078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classify each cell as populated vs. empty; apply regression only to populated cells, addressing class imbalance.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28032" y="1097280"/>
            <a:ext cx="4069080" cy="1691640"/>
          </a:xfrm>
          <a:prstGeom prst="rect">
            <a:avLst/>
          </a:prstGeom>
          <a:solidFill>
            <a:srgbClr val="F0F8FC"/>
          </a:solidFill>
          <a:ln w="12700">
            <a:solidFill>
              <a:srgbClr val="C8E8F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4828032" y="1097280"/>
            <a:ext cx="9144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Text 9"/>
          <p:cNvSpPr/>
          <p:nvPr/>
        </p:nvSpPr>
        <p:spPr>
          <a:xfrm>
            <a:off x="5056632" y="12618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Models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056632" y="1700784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architectures that capture long-range spatial dependencies across the full image.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069080" cy="1691640"/>
          </a:xfrm>
          <a:prstGeom prst="rect">
            <a:avLst/>
          </a:prstGeom>
          <a:solidFill>
            <a:srgbClr val="F0F8FC"/>
          </a:solidFill>
          <a:ln w="12700">
            <a:solidFill>
              <a:srgbClr val="C8E8F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Shape 12"/>
          <p:cNvSpPr/>
          <p:nvPr/>
        </p:nvSpPr>
        <p:spPr>
          <a:xfrm>
            <a:off x="457200" y="2999232"/>
            <a:ext cx="9144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5" name="Text 13"/>
          <p:cNvSpPr/>
          <p:nvPr/>
        </p:nvSpPr>
        <p:spPr>
          <a:xfrm>
            <a:off x="685800" y="31638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85800" y="360273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images by visual similarity (urban, suburban, rural) and train separate models per cluster.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28032" y="2999232"/>
            <a:ext cx="4069080" cy="1691640"/>
          </a:xfrm>
          <a:prstGeom prst="rect">
            <a:avLst/>
          </a:prstGeom>
          <a:solidFill>
            <a:srgbClr val="F0F8FC"/>
          </a:solidFill>
          <a:ln w="12700">
            <a:solidFill>
              <a:srgbClr val="C8E8F4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6"/>
          <p:cNvSpPr/>
          <p:nvPr/>
        </p:nvSpPr>
        <p:spPr>
          <a:xfrm>
            <a:off x="4828032" y="2999232"/>
            <a:ext cx="91440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Text 17"/>
          <p:cNvSpPr/>
          <p:nvPr/>
        </p:nvSpPr>
        <p:spPr>
          <a:xfrm>
            <a:off x="5056632" y="316382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— 300×300m Squares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056632" y="3602736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receptive field to capture surrounding neighbourhood context for improved spatial awareness.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effectiveness verified via GradCAM — confirming attention on actual building structures.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8E7EE-4298-B411-3BF9-C07602AF5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4222B7-CB2D-35A2-9109-FA915F45894E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1BA5D63-48F8-AF8B-09F9-7B2B6771EEC1}"/>
              </a:ext>
            </a:extLst>
          </p:cNvPr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E9528C0-D4E9-AF74-1ACD-8DB57C4F66D5}"/>
              </a:ext>
            </a:extLst>
          </p:cNvPr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Effects</a:t>
            </a:r>
            <a:endParaRPr lang="en-US" sz="2800" dirty="0"/>
          </a:p>
        </p:txBody>
      </p:sp>
      <p:pic>
        <p:nvPicPr>
          <p:cNvPr id="6" name="Picture 5" descr="The image appears to be a high-resolution, low-contrast black and white scan, possibly of a textured surface or pattern.&#10;&#10;AI-generated content may be incorrect.">
            <a:extLst>
              <a:ext uri="{FF2B5EF4-FFF2-40B4-BE49-F238E27FC236}">
                <a16:creationId xmlns:a16="http://schemas.microsoft.com/office/drawing/2014/main" id="{F4852B29-83E2-387B-04C1-C583E98266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81" y="986995"/>
            <a:ext cx="1992070" cy="2094301"/>
          </a:xfrm>
          <a:prstGeom prst="rect">
            <a:avLst/>
          </a:prstGeom>
        </p:spPr>
      </p:pic>
      <p:pic>
        <p:nvPicPr>
          <p:cNvPr id="8" name="Picture 7" descr="The provided text appears to be a reference code or identifier rather than an image description.&#10;&#10;AI-generated content may be incorrect.">
            <a:extLst>
              <a:ext uri="{FF2B5EF4-FFF2-40B4-BE49-F238E27FC236}">
                <a16:creationId xmlns:a16="http://schemas.microsoft.com/office/drawing/2014/main" id="{78E6B2EE-A594-DDC1-A242-76AD9F818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05" y="3108171"/>
            <a:ext cx="1954746" cy="2034146"/>
          </a:xfrm>
          <a:prstGeom prst="rect">
            <a:avLst/>
          </a:prstGeom>
        </p:spPr>
      </p:pic>
      <p:pic>
        <p:nvPicPr>
          <p:cNvPr id="12" name="Picture 11" descr="The image shows a rural landscape with a straight road running through a field, marked with specific grid coordinates for reference.&#10;&#10;AI-generated content may be incorrect.">
            <a:extLst>
              <a:ext uri="{FF2B5EF4-FFF2-40B4-BE49-F238E27FC236}">
                <a16:creationId xmlns:a16="http://schemas.microsoft.com/office/drawing/2014/main" id="{AB1FF7CB-150B-6A98-9F07-AE98A90B79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1289" y="1017373"/>
            <a:ext cx="1954074" cy="2033546"/>
          </a:xfrm>
          <a:prstGeom prst="rect">
            <a:avLst/>
          </a:prstGeom>
        </p:spPr>
      </p:pic>
      <p:pic>
        <p:nvPicPr>
          <p:cNvPr id="14" name="Picture 13" descr="The image shows a satellite image of a rural area, likely a field or agricultural land, with distinct, grid-like patterns that could represent irrigation channels or crop rows, and a small patch of burned or cleared land in the center.&#10;&#10;AI-generated content may be incorrect.">
            <a:extLst>
              <a:ext uri="{FF2B5EF4-FFF2-40B4-BE49-F238E27FC236}">
                <a16:creationId xmlns:a16="http://schemas.microsoft.com/office/drawing/2014/main" id="{5B61C34E-0271-6A64-BA35-B4E717B111C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4540" y="3109354"/>
            <a:ext cx="1981419" cy="2034146"/>
          </a:xfrm>
          <a:prstGeom prst="rect">
            <a:avLst/>
          </a:prstGeom>
        </p:spPr>
      </p:pic>
      <p:pic>
        <p:nvPicPr>
          <p:cNvPr id="16" name="Picture 15" descr="The image depicts a satellite view of a residential area with buildings, roads, and a grid pattern, along with coordinates for reference.&#10;&#10;AI-generated content may be incorrect.">
            <a:extLst>
              <a:ext uri="{FF2B5EF4-FFF2-40B4-BE49-F238E27FC236}">
                <a16:creationId xmlns:a16="http://schemas.microsoft.com/office/drawing/2014/main" id="{BC9FA1F2-C828-8DE3-8567-899665A79D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9086" y="986996"/>
            <a:ext cx="1970953" cy="2063923"/>
          </a:xfrm>
          <a:prstGeom prst="rect">
            <a:avLst/>
          </a:prstGeom>
        </p:spPr>
      </p:pic>
      <p:pic>
        <p:nvPicPr>
          <p:cNvPr id="18" name="Picture 17" descr="The image shows a rural area with a grid overlay, a circular structure, and some buildings, all plotted on a map.&#10;&#10;AI-generated content may be incorrect.">
            <a:extLst>
              <a:ext uri="{FF2B5EF4-FFF2-40B4-BE49-F238E27FC236}">
                <a16:creationId xmlns:a16="http://schemas.microsoft.com/office/drawing/2014/main" id="{3844AC4C-909B-734F-B469-65E6F504A5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79086" y="3048412"/>
            <a:ext cx="2012015" cy="2119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090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Effects</a:t>
            </a:r>
            <a:endParaRPr lang="en-US" sz="2800" dirty="0"/>
          </a:p>
        </p:txBody>
      </p:sp>
      <p:pic>
        <p:nvPicPr>
          <p:cNvPr id="23" name="Picture 22" descr="The image depicts a geographical map showing three distinct clusters, labeled Cluster 0, Cluster 1, and Cluster 2, with various numerical values representing locations.&#10;&#10;AI-generated content may be incorrect.">
            <a:extLst>
              <a:ext uri="{FF2B5EF4-FFF2-40B4-BE49-F238E27FC236}">
                <a16:creationId xmlns:a16="http://schemas.microsoft.com/office/drawing/2014/main" id="{CA7CBDE4-39BA-8BDD-8FFD-3E0CFFD2DF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25236"/>
            <a:ext cx="9144000" cy="37407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Classification-First Regression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69080" cy="3520440"/>
          </a:xfrm>
          <a:prstGeom prst="rect">
            <a:avLst/>
          </a:prstGeom>
          <a:solidFill>
            <a:srgbClr val="E6F4F9"/>
          </a:solidFill>
          <a:ln w="19050">
            <a:solidFill>
              <a:srgbClr val="6DC5DC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Shape 6"/>
          <p:cNvSpPr/>
          <p:nvPr/>
        </p:nvSpPr>
        <p:spPr>
          <a:xfrm>
            <a:off x="4315968" y="114300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4443984" y="114300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411480" y="462686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9"/>
          <p:cNvSpPr/>
          <p:nvPr/>
        </p:nvSpPr>
        <p:spPr>
          <a:xfrm>
            <a:off x="411480" y="449884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10"/>
          <p:cNvSpPr/>
          <p:nvPr/>
        </p:nvSpPr>
        <p:spPr>
          <a:xfrm>
            <a:off x="4315968" y="462686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1"/>
          <p:cNvSpPr/>
          <p:nvPr/>
        </p:nvSpPr>
        <p:spPr>
          <a:xfrm>
            <a:off x="4443984" y="449884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502920" y="270205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True vs Predicted — R²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69080" cy="3520440"/>
          </a:xfrm>
          <a:prstGeom prst="rect">
            <a:avLst/>
          </a:prstGeom>
          <a:solidFill>
            <a:srgbClr val="E6F4F9"/>
          </a:solidFill>
          <a:ln w="19050">
            <a:solidFill>
              <a:srgbClr val="6DC5DC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6"/>
          <p:cNvSpPr/>
          <p:nvPr/>
        </p:nvSpPr>
        <p:spPr>
          <a:xfrm>
            <a:off x="8567928" y="114300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Shape 17"/>
          <p:cNvSpPr/>
          <p:nvPr/>
        </p:nvSpPr>
        <p:spPr>
          <a:xfrm>
            <a:off x="8695944" y="114300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Shape 18"/>
          <p:cNvSpPr/>
          <p:nvPr/>
        </p:nvSpPr>
        <p:spPr>
          <a:xfrm>
            <a:off x="4663440" y="462686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Shape 19"/>
          <p:cNvSpPr/>
          <p:nvPr/>
        </p:nvSpPr>
        <p:spPr>
          <a:xfrm>
            <a:off x="4663440" y="449884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Shape 20"/>
          <p:cNvSpPr/>
          <p:nvPr/>
        </p:nvSpPr>
        <p:spPr>
          <a:xfrm>
            <a:off x="8567928" y="462686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Shape 21"/>
          <p:cNvSpPr/>
          <p:nvPr/>
        </p:nvSpPr>
        <p:spPr>
          <a:xfrm>
            <a:off x="8695944" y="449884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Text 22"/>
          <p:cNvSpPr/>
          <p:nvPr/>
        </p:nvSpPr>
        <p:spPr>
          <a:xfrm>
            <a:off x="4754880" y="270205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ROC Curve 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7274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Performance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63440" y="47274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Performance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Results: Transformer Model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143000"/>
            <a:ext cx="4069080" cy="3520440"/>
          </a:xfrm>
          <a:prstGeom prst="rect">
            <a:avLst/>
          </a:prstGeom>
          <a:solidFill>
            <a:srgbClr val="E6F4F9"/>
          </a:solidFill>
          <a:ln w="19050">
            <a:solidFill>
              <a:srgbClr val="6DC5DC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Shape 5"/>
          <p:cNvSpPr/>
          <p:nvPr/>
        </p:nvSpPr>
        <p:spPr>
          <a:xfrm>
            <a:off x="411480" y="114300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Shape 6"/>
          <p:cNvSpPr/>
          <p:nvPr/>
        </p:nvSpPr>
        <p:spPr>
          <a:xfrm>
            <a:off x="4315968" y="114300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4443984" y="114300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411480" y="462686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9"/>
          <p:cNvSpPr/>
          <p:nvPr/>
        </p:nvSpPr>
        <p:spPr>
          <a:xfrm>
            <a:off x="411480" y="449884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10"/>
          <p:cNvSpPr/>
          <p:nvPr/>
        </p:nvSpPr>
        <p:spPr>
          <a:xfrm>
            <a:off x="4315968" y="462686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1"/>
          <p:cNvSpPr/>
          <p:nvPr/>
        </p:nvSpPr>
        <p:spPr>
          <a:xfrm>
            <a:off x="4443984" y="449884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502920" y="270205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True vs Predicted — Transformer 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143000"/>
            <a:ext cx="4069080" cy="3520440"/>
          </a:xfrm>
          <a:prstGeom prst="rect">
            <a:avLst/>
          </a:prstGeom>
          <a:solidFill>
            <a:srgbClr val="E6F4F9"/>
          </a:solidFill>
          <a:ln w="19050">
            <a:solidFill>
              <a:srgbClr val="6DC5DC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16" name="Shape 14"/>
          <p:cNvSpPr/>
          <p:nvPr/>
        </p:nvSpPr>
        <p:spPr>
          <a:xfrm>
            <a:off x="4663440" y="114300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7" name="Shape 15"/>
          <p:cNvSpPr/>
          <p:nvPr/>
        </p:nvSpPr>
        <p:spPr>
          <a:xfrm>
            <a:off x="4663440" y="114300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Shape 16"/>
          <p:cNvSpPr/>
          <p:nvPr/>
        </p:nvSpPr>
        <p:spPr>
          <a:xfrm>
            <a:off x="8567928" y="114300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9" name="Shape 17"/>
          <p:cNvSpPr/>
          <p:nvPr/>
        </p:nvSpPr>
        <p:spPr>
          <a:xfrm>
            <a:off x="8695944" y="114300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0" name="Shape 18"/>
          <p:cNvSpPr/>
          <p:nvPr/>
        </p:nvSpPr>
        <p:spPr>
          <a:xfrm>
            <a:off x="4663440" y="462686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1" name="Shape 19"/>
          <p:cNvSpPr/>
          <p:nvPr/>
        </p:nvSpPr>
        <p:spPr>
          <a:xfrm>
            <a:off x="4663440" y="449884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2" name="Shape 20"/>
          <p:cNvSpPr/>
          <p:nvPr/>
        </p:nvSpPr>
        <p:spPr>
          <a:xfrm>
            <a:off x="8567928" y="462686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3" name="Shape 21"/>
          <p:cNvSpPr/>
          <p:nvPr/>
        </p:nvSpPr>
        <p:spPr>
          <a:xfrm>
            <a:off x="8695944" y="449884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24" name="Text 22"/>
          <p:cNvSpPr/>
          <p:nvPr/>
        </p:nvSpPr>
        <p:spPr>
          <a:xfrm>
            <a:off x="4754880" y="2702052"/>
            <a:ext cx="3886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R² / Model Metrics ]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11480" y="47274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663440" y="4727448"/>
            <a:ext cx="4069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3621024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CNN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Population Filter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Zero-inflated handling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+ Regression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Two-stage pipeline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Attention-based 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 + CNN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i="1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— 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Per-cluster 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DEA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11480" cy="9601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4" name="Text 2"/>
          <p:cNvSpPr/>
          <p:nvPr/>
        </p:nvSpPr>
        <p:spPr>
          <a:xfrm>
            <a:off x="594360" y="0"/>
            <a:ext cx="8412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Training Sample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" y="1097280"/>
            <a:ext cx="5029200" cy="3840480"/>
          </a:xfrm>
          <a:prstGeom prst="rect">
            <a:avLst/>
          </a:prstGeom>
          <a:solidFill>
            <a:srgbClr val="E6F4F9"/>
          </a:solidFill>
          <a:ln w="19050">
            <a:solidFill>
              <a:srgbClr val="6DC5DC"/>
            </a:solidFill>
            <a:prstDash val="dash"/>
          </a:ln>
        </p:spPr>
        <p:txBody>
          <a:bodyPr/>
          <a:lstStyle/>
          <a:p>
            <a:endParaRPr lang="en-DK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7" name="Shape 5"/>
          <p:cNvSpPr/>
          <p:nvPr/>
        </p:nvSpPr>
        <p:spPr>
          <a:xfrm>
            <a:off x="411480" y="109728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8" name="Shape 6"/>
          <p:cNvSpPr/>
          <p:nvPr/>
        </p:nvSpPr>
        <p:spPr>
          <a:xfrm>
            <a:off x="5276088" y="1097280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9" name="Shape 7"/>
          <p:cNvSpPr/>
          <p:nvPr/>
        </p:nvSpPr>
        <p:spPr>
          <a:xfrm>
            <a:off x="5404104" y="1097280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0" name="Shape 8"/>
          <p:cNvSpPr/>
          <p:nvPr/>
        </p:nvSpPr>
        <p:spPr>
          <a:xfrm>
            <a:off x="411480" y="490118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1" name="Shape 9"/>
          <p:cNvSpPr/>
          <p:nvPr/>
        </p:nvSpPr>
        <p:spPr>
          <a:xfrm>
            <a:off x="411480" y="477316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2" name="Shape 10"/>
          <p:cNvSpPr/>
          <p:nvPr/>
        </p:nvSpPr>
        <p:spPr>
          <a:xfrm>
            <a:off x="5276088" y="4901184"/>
            <a:ext cx="164592" cy="36576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3" name="Shape 11"/>
          <p:cNvSpPr/>
          <p:nvPr/>
        </p:nvSpPr>
        <p:spPr>
          <a:xfrm>
            <a:off x="5404104" y="4773168"/>
            <a:ext cx="36576" cy="164592"/>
          </a:xfrm>
          <a:prstGeom prst="rect">
            <a:avLst/>
          </a:prstGeom>
          <a:solidFill>
            <a:srgbClr val="6DC5DC"/>
          </a:solidFill>
          <a:ln w="12700">
            <a:solidFill>
              <a:srgbClr val="6DC5DC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4" name="Text 12"/>
          <p:cNvSpPr/>
          <p:nvPr/>
        </p:nvSpPr>
        <p:spPr>
          <a:xfrm>
            <a:off x="502920" y="281635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AC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Out-of-Sample Prediction Map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1234440"/>
            <a:ext cx="3154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Hope to See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669280" y="1737360"/>
            <a:ext cx="3154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B0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Ideally, the model generalises beyond its training data — accurately predicting population counts for previously unseen geographic areas.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669280" y="3337560"/>
            <a:ext cx="3154680" cy="1508760"/>
          </a:xfrm>
          <a:prstGeom prst="rect">
            <a:avLst/>
          </a:prstGeom>
          <a:solidFill>
            <a:srgbClr val="0A2A3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DK"/>
          </a:p>
        </p:txBody>
      </p:sp>
      <p:sp>
        <p:nvSpPr>
          <p:cNvPr id="18" name="Text 16"/>
          <p:cNvSpPr/>
          <p:nvPr/>
        </p:nvSpPr>
        <p:spPr>
          <a:xfrm>
            <a:off x="5852160" y="3429000"/>
            <a:ext cx="28346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generalisation means the model has learned meaningful features of human settlement patterns — not just memorised the training set.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459</Words>
  <Application>Microsoft Office PowerPoint</Application>
  <PresentationFormat>On-screen Show (16:9)</PresentationFormat>
  <Paragraphs>105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Population Estimation</dc:title>
  <dc:subject>PptxGenJS Presentation</dc:subject>
  <dc:creator>PptxGenJS</dc:creator>
  <cp:lastModifiedBy>Jacob Møller-Jensen</cp:lastModifiedBy>
  <cp:revision>5</cp:revision>
  <dcterms:created xsi:type="dcterms:W3CDTF">2026-06-05T08:11:23Z</dcterms:created>
  <dcterms:modified xsi:type="dcterms:W3CDTF">2026-06-05T12:29:40Z</dcterms:modified>
</cp:coreProperties>
</file>